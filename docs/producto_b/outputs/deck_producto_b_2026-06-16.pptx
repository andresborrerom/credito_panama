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6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59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Producto B — Retornos esperados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Portafolio LUZ · sensibilidad y señal vs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FF7"/>
                </a:solidFill>
              </a:rPr>
              <a:t>Corte de análisis · 2026-06-16  ·  horizonte 12 meses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FF7"/>
                </a:solidFill>
              </a:rPr>
              <a:t>Modelo Mercantil · NN + BMA · datos EODHD/FRED/Bloomberg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3A5C"/>
                </a:solidFill>
              </a:rPr>
              <a:t>Metodología en una lámina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4303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A5C"/>
                </a:solidFill>
              </a:rPr>
              <a:t>• Predecimos la distribución completa (FDP) de retornos del portafolio LUZ a 12 meses, no un punto.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A3A5C"/>
                </a:solidFill>
              </a:rPr>
              <a:t>• Partimos la FDP en 5 zonas con probabilidad: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66666"/>
                </a:solidFill>
              </a:rPr>
              <a:t>   – Riesgo (cola izq 2.5%) · Bajista · Esperado (HDI 50%) · Alcista · Sorpresa (cola der 2.5%).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A3A5C"/>
                </a:solidFill>
              </a:rPr>
              <a:t>• Contrastamos la FDP del modelo contra la FDP histórica observada (mismas ponderaciones actuales).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666666"/>
                </a:solidFill>
              </a:rPr>
              <a:t>   – La señal sale de la diferencia: centro por encima/debajo de la historia, más/menos confianza, más/menos riesgo de cola.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A3A5C"/>
                </a:solidFill>
              </a:rPr>
              <a:t>• Walk-forward valida qué tanto le pega el modelo a lo realizado.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FDP predictiva del portafolio LUZ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FF7"/>
                </a:solidFill>
              </a:rPr>
              <a:t>Nube Monte Carlo · HDIs 50/80/95 · VaR y CVaR 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Histograma LUZ · luz_histograma_2024-06-30_h12m</a:t>
            </a:r>
          </a:p>
        </p:txBody>
      </p:sp>
      <p:pic>
        <p:nvPicPr>
          <p:cNvPr id="3" name="Picture 2" descr="luz_histograma_2024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43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Histograma LUZ · luz_ejemplo1_normal_2024-06-30_h12m</a:t>
            </a:r>
          </a:p>
        </p:txBody>
      </p:sp>
      <p:pic>
        <p:nvPicPr>
          <p:cNvPr id="3" name="Picture 2" descr="luz_ejemplo1_normal_2024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43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Histograma LUZ · luz_ejemplo2_extremo_2022-06-30_h12m</a:t>
            </a:r>
          </a:p>
        </p:txBody>
      </p:sp>
      <p:pic>
        <p:nvPicPr>
          <p:cNvPr id="3" name="Picture 2" descr="luz_ejemplo2_extremo_2022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43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Histograma LUZ · luz_ejemplo3_cola_gorda_2022-03-31_h12m</a:t>
            </a:r>
          </a:p>
        </p:txBody>
      </p:sp>
      <p:pic>
        <p:nvPicPr>
          <p:cNvPr id="3" name="Picture 2" descr="luz_ejemplo3_cola_gorda_2022-03-31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1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Modelo vs historia — Portafolio LUZ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FF7"/>
                </a:solidFill>
              </a:rPr>
              <a:t>FDP predictiva vs FDP histórica · señal por corte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Comparación portafolio · luz_portafolio_2022-03-31_h12m</a:t>
            </a:r>
          </a:p>
        </p:txBody>
      </p:sp>
      <p:pic>
        <p:nvPicPr>
          <p:cNvPr id="3" name="Picture 2" descr="luz_portafolio_2022-03-31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44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Comparación portafolio · luz_portafolio_2022-06-30_h12m</a:t>
            </a:r>
          </a:p>
        </p:txBody>
      </p:sp>
      <p:pic>
        <p:nvPicPr>
          <p:cNvPr id="3" name="Picture 2" descr="luz_portafolio_2022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84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Comparación portafolio · luz_portafolio_2024-06-30_h12m</a:t>
            </a:r>
          </a:p>
        </p:txBody>
      </p:sp>
      <p:pic>
        <p:nvPicPr>
          <p:cNvPr id="3" name="Picture 2" descr="luz_portafolio_2024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84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Modelo vs historia — Índices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FF7"/>
                </a:solidFill>
              </a:rPr>
              <a:t>LQD · IGOV · GHYG · EMB · ACWI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Comparación índice · indice_ACWI_2024-06-30_h12m</a:t>
            </a:r>
          </a:p>
        </p:txBody>
      </p:sp>
      <p:pic>
        <p:nvPicPr>
          <p:cNvPr id="3" name="Picture 2" descr="indice_ACWI_2024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84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Comparación índice · indice_EMB_2024-06-30_h12m</a:t>
            </a:r>
          </a:p>
        </p:txBody>
      </p:sp>
      <p:pic>
        <p:nvPicPr>
          <p:cNvPr id="3" name="Picture 2" descr="indice_EMB_2024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84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Comparación índice · indice_GHYG_2024-06-30_h12m</a:t>
            </a:r>
          </a:p>
        </p:txBody>
      </p:sp>
      <p:pic>
        <p:nvPicPr>
          <p:cNvPr id="3" name="Picture 2" descr="indice_GHYG_2024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84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Comparación índice · indice_IGOV_2024-06-30_h12m</a:t>
            </a:r>
          </a:p>
        </p:txBody>
      </p:sp>
      <p:pic>
        <p:nvPicPr>
          <p:cNvPr id="3" name="Picture 2" descr="indice_IGOV_2024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84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Comparación índice · indice_LQD_2024-06-30_h12m</a:t>
            </a:r>
          </a:p>
        </p:txBody>
      </p:sp>
      <p:pic>
        <p:nvPicPr>
          <p:cNvPr id="3" name="Picture 2" descr="indice_LQD_2024-06-30_h12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48640"/>
            <a:ext cx="11457432" cy="66584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A5C"/>
                </a:solidFill>
              </a:rPr>
              <a:t>Matriz de señales — modelo vs historia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524"/>
                <a:gridCol w="1584524"/>
                <a:gridCol w="1584524"/>
                <a:gridCol w="1584524"/>
                <a:gridCol w="1584524"/>
                <a:gridCol w="1584524"/>
                <a:gridCol w="1584528"/>
              </a:tblGrid>
              <a:tr h="2406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Activo</a:t>
                      </a:r>
                    </a:p>
                  </a:txBody>
                  <a:tcPr>
                    <a:solidFill>
                      <a:srgbClr val="2A6F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as_of</a:t>
                      </a:r>
                    </a:p>
                  </a:txBody>
                  <a:tcPr>
                    <a:solidFill>
                      <a:srgbClr val="2A6F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régimen</a:t>
                      </a:r>
                    </a:p>
                  </a:txBody>
                  <a:tcPr>
                    <a:solidFill>
                      <a:srgbClr val="2A6F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Señal</a:t>
                      </a:r>
                    </a:p>
                  </a:txBody>
                  <a:tcPr>
                    <a:solidFill>
                      <a:srgbClr val="2A6F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Centro Δbps</a:t>
                      </a:r>
                    </a:p>
                  </a:txBody>
                  <a:tcPr>
                    <a:solidFill>
                      <a:srgbClr val="2A6F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Ancho HDI50 (×)</a:t>
                      </a:r>
                    </a:p>
                  </a:txBody>
                  <a:tcPr>
                    <a:solidFill>
                      <a:srgbClr val="2A6F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Riesgo Δbps</a:t>
                      </a:r>
                    </a:p>
                  </a:txBody>
                  <a:tcPr>
                    <a:solidFill>
                      <a:srgbClr val="2A6FB3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Portafolio LUZ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NEUTRAL 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+847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LQD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POSITIVA leve</a:t>
                      </a:r>
                    </a:p>
                  </a:txBody>
                  <a:tcPr>
                    <a:solidFill>
                      <a:srgbClr val="D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+547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IGOV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NEUTRAL 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+859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GHYG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POSITIVA fuerte</a:t>
                      </a:r>
                    </a:p>
                  </a:txBody>
                  <a:tcPr>
                    <a:solidFill>
                      <a:srgbClr val="D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+707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EMB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POSITIVA moderada</a:t>
                      </a:r>
                    </a:p>
                  </a:txBody>
                  <a:tcPr>
                    <a:solidFill>
                      <a:srgbClr val="D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+361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ACWI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2024-06-30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POSITIVA fuerte</a:t>
                      </a:r>
                    </a:p>
                  </a:txBody>
                  <a:tcPr>
                    <a:solidFill>
                      <a:srgbClr val="D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+339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+677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Portafolio LUZ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extremo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-371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LQD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extremo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-1369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IGOV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extremo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-1282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GHYG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extremo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moderada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-1275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EMB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extremo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-1338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ACWI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extremo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-1847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Portafolio LUZ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cola_gorda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-690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LQD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cola_gorda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-1012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IGOV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cola_gorda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-874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GHYG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cola_gorda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moderada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-634</a:t>
                      </a:r>
                    </a:p>
                  </a:txBody>
                  <a:tcPr/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/>
                        <a:t>EMB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cola_gorda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moderada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-1446</a:t>
                      </a:r>
                    </a:p>
                  </a:txBody>
                  <a:tcPr/>
                </a:tc>
              </a:tr>
              <a:tr h="240642">
                <a:tc>
                  <a:txBody>
                    <a:bodyPr/>
                    <a:lstStyle/>
                    <a:p>
                      <a:r>
                        <a:rPr sz="1100"/>
                        <a:t>ACWI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2022-03-31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cola_gorda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NEGATIVA fuerte</a:t>
                      </a:r>
                    </a:p>
                  </a:txBody>
                  <a:tcPr>
                    <a:solidFill>
                      <a:srgbClr val="F6D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-673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-1103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30936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FF7"/>
                </a:solidFill>
              </a:rPr>
              <a:t>Documento informativo con fines analíticos. No constituye recomendación de inversión.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