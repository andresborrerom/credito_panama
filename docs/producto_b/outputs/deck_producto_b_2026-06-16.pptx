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A6F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1072591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</a:rPr>
              <a:t>Producto B — Retornos esperados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108960"/>
            <a:ext cx="1072591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</a:rPr>
              <a:t>Portafolio LUZ · sensibilidad y señal vs historia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023360"/>
            <a:ext cx="1072591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E8EFF7"/>
                </a:solidFill>
              </a:rPr>
              <a:t>Corte de análisis · 2026-06-16  ·  horizonte 12 meses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943600"/>
            <a:ext cx="1072591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E8EFF7"/>
                </a:solidFill>
              </a:rPr>
              <a:t>Modelo Mercantil · NN + BMA · datos EODHD/FRED/Bloomberg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0879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3A5C"/>
                </a:solidFill>
              </a:rPr>
              <a:t>Metodología en una lámina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1054303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>
                <a:solidFill>
                  <a:srgbClr val="1A3A5C"/>
                </a:solidFill>
              </a:rPr>
              <a:t>• Predecimos la distribución completa (FDP) de retornos del portafolio LUZ a 12 meses, no un punto.</a:t>
            </a: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1A3A5C"/>
                </a:solidFill>
              </a:rPr>
              <a:t>• Partimos la FDP en 5 zonas con probabilidad:</a:t>
            </a:r>
          </a:p>
          <a:p>
            <a:pPr lvl="1">
              <a:spcAft>
                <a:spcPts val="800"/>
              </a:spcAft>
            </a:pPr>
            <a:r>
              <a:rPr sz="1500" b="0">
                <a:solidFill>
                  <a:srgbClr val="666666"/>
                </a:solidFill>
              </a:rPr>
              <a:t>   – Riesgo (cola izq 2.5%) · Bajista · Esperado (HDI 50%) · Alcista · Sorpresa (cola der 2.5%).</a:t>
            </a: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1A3A5C"/>
                </a:solidFill>
              </a:rPr>
              <a:t>• Contrastamos la FDP del modelo contra la FDP histórica observada (mismas ponderaciones actuales).</a:t>
            </a:r>
          </a:p>
          <a:p>
            <a:pPr lvl="1">
              <a:spcAft>
                <a:spcPts val="800"/>
              </a:spcAft>
            </a:pPr>
            <a:r>
              <a:rPr sz="1500" b="0">
                <a:solidFill>
                  <a:srgbClr val="666666"/>
                </a:solidFill>
              </a:rPr>
              <a:t>   – La señal sale de la diferencia: centro por encima/debajo de la historia, más/menos confianza, más/menos riesgo de cola.</a:t>
            </a: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1A3A5C"/>
                </a:solidFill>
              </a:rPr>
              <a:t>• Walk-forward valida qué tanto le pega el modelo a lo realizado.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109087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666666"/>
                </a:solidFill>
              </a:rPr>
              <a:t>Documento informativo con fines analíticos. No constituye recomendación de inversión.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651760"/>
            <a:ext cx="1072591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</a:rPr>
              <a:t>FDP predictiva del portafolio LUZ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1072591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E8EFF7"/>
                </a:solidFill>
              </a:rPr>
              <a:t>Nube Monte Carlo · HDIs 50/80/95 · VaR y CVaR 95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09728"/>
            <a:ext cx="11457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3A5C"/>
                </a:solidFill>
              </a:rPr>
              <a:t>Histograma LUZ · luz_histograma_2024-06-30_h12m</a:t>
            </a:r>
          </a:p>
        </p:txBody>
      </p:sp>
      <p:pic>
        <p:nvPicPr>
          <p:cNvPr id="3" name="Picture 2" descr="luz_histograma_2024-06-30_h12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548640"/>
            <a:ext cx="11457432" cy="664338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09728"/>
            <a:ext cx="11457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3A5C"/>
                </a:solidFill>
              </a:rPr>
              <a:t>Histograma LUZ · luz_ejemplo1_normal_2024-06-30_h12m</a:t>
            </a:r>
          </a:p>
        </p:txBody>
      </p:sp>
      <p:pic>
        <p:nvPicPr>
          <p:cNvPr id="3" name="Picture 2" descr="luz_ejemplo1_normal_2024-06-30_h12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548640"/>
            <a:ext cx="11457432" cy="664338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09728"/>
            <a:ext cx="11457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3A5C"/>
                </a:solidFill>
              </a:rPr>
              <a:t>Histograma LUZ · luz_ejemplo2_extremo_2022-06-30_h12m</a:t>
            </a:r>
          </a:p>
        </p:txBody>
      </p:sp>
      <p:pic>
        <p:nvPicPr>
          <p:cNvPr id="3" name="Picture 2" descr="luz_ejemplo2_extremo_2022-06-30_h12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548640"/>
            <a:ext cx="11457432" cy="664338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09728"/>
            <a:ext cx="11457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3A5C"/>
                </a:solidFill>
              </a:rPr>
              <a:t>Histograma LUZ · luz_ejemplo3_cola_gorda_2022-03-31_h12m</a:t>
            </a:r>
          </a:p>
        </p:txBody>
      </p:sp>
      <p:pic>
        <p:nvPicPr>
          <p:cNvPr id="3" name="Picture 2" descr="luz_ejemplo3_cola_gorda_2022-03-31_h12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548640"/>
            <a:ext cx="11457432" cy="665198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651760"/>
            <a:ext cx="1072591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</a:rPr>
              <a:t>Modelo vs historia — Portafolio LUZ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1072591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E8EFF7"/>
                </a:solidFill>
              </a:rPr>
              <a:t>FDP predictiva vs FDP histórica · señal por corte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09728"/>
            <a:ext cx="11457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3A5C"/>
                </a:solidFill>
              </a:rPr>
              <a:t>Comparación portafolio · luz_portafolio_2024-06-30_h12m</a:t>
            </a:r>
          </a:p>
        </p:txBody>
      </p:sp>
      <p:pic>
        <p:nvPicPr>
          <p:cNvPr id="3" name="Picture 2" descr="luz_portafolio_2024-06-30_h12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548640"/>
            <a:ext cx="11457432" cy="665843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651760"/>
            <a:ext cx="1072591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</a:rPr>
              <a:t>Modelo vs historia — Índices principales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1072591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E8EFF7"/>
                </a:solidFill>
              </a:rPr>
              <a:t>LQD · IGOV · GHYG · EMB · ACWI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09728"/>
            <a:ext cx="11457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3A5C"/>
                </a:solidFill>
              </a:rPr>
              <a:t>Comparación índice · indice_ACWI_2024-06-30_h12m</a:t>
            </a:r>
          </a:p>
        </p:txBody>
      </p:sp>
      <p:pic>
        <p:nvPicPr>
          <p:cNvPr id="3" name="Picture 2" descr="indice_ACWI_2024-06-30_h12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548640"/>
            <a:ext cx="11457432" cy="665843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09728"/>
            <a:ext cx="11457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3A5C"/>
                </a:solidFill>
              </a:rPr>
              <a:t>Comparación índice · indice_EMB_2024-06-30_h12m</a:t>
            </a:r>
          </a:p>
        </p:txBody>
      </p:sp>
      <p:pic>
        <p:nvPicPr>
          <p:cNvPr id="3" name="Picture 2" descr="indice_EMB_2024-06-30_h12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548640"/>
            <a:ext cx="11457432" cy="665843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09728"/>
            <a:ext cx="11457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3A5C"/>
                </a:solidFill>
              </a:rPr>
              <a:t>Comparación índice · indice_GHYG_2024-06-30_h12m</a:t>
            </a:r>
          </a:p>
        </p:txBody>
      </p:sp>
      <p:pic>
        <p:nvPicPr>
          <p:cNvPr id="3" name="Picture 2" descr="indice_GHYG_2024-06-30_h12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548640"/>
            <a:ext cx="11457432" cy="665843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09728"/>
            <a:ext cx="11457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3A5C"/>
                </a:solidFill>
              </a:rPr>
              <a:t>Comparación índice · indice_IGOV_2024-06-30_h12m</a:t>
            </a:r>
          </a:p>
        </p:txBody>
      </p:sp>
      <p:pic>
        <p:nvPicPr>
          <p:cNvPr id="3" name="Picture 2" descr="indice_IGOV_2024-06-30_h12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548640"/>
            <a:ext cx="11457432" cy="665843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09728"/>
            <a:ext cx="11457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3A5C"/>
                </a:solidFill>
              </a:rPr>
              <a:t>Comparación índice · indice_LQD_2024-06-30_h12m</a:t>
            </a:r>
          </a:p>
        </p:txBody>
      </p:sp>
      <p:pic>
        <p:nvPicPr>
          <p:cNvPr id="3" name="Picture 2" descr="indice_LQD_2024-06-30_h12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548640"/>
            <a:ext cx="11457432" cy="6658436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651760"/>
            <a:ext cx="1072591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</a:rPr>
              <a:t>Compliance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1072591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E8EFF7"/>
                </a:solidFill>
              </a:rPr>
              <a:t>Documento informativo con fines analíticos. No constituye recomendación de inversión.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