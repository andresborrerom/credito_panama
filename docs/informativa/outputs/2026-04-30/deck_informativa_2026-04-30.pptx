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A6F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0"/>
            <a:ext cx="10725912" cy="1188720"/>
          </a:xfrm>
          <a:prstGeom prst="rect">
            <a:avLst/>
          </a:prstGeom>
          <a:noFill/>
        </p:spPr>
        <p:txBody>
          <a:bodyPr wrap="square">
            <a:spAutoFit/>
          </a:bodyPr>
          <a:lstStyle/>
          <a:p>
            <a:pPr algn="l"/>
            <a:r>
              <a:rPr sz="3800" b="1" i="0">
                <a:solidFill>
                  <a:srgbClr val="FFFFFF"/>
                </a:solidFill>
              </a:rPr>
              <a:t>Pieza informativa — Tasas, FX, Panamá</a:t>
            </a:r>
          </a:p>
        </p:txBody>
      </p:sp>
      <p:sp>
        <p:nvSpPr>
          <p:cNvPr id="4" name="TextBox 3"/>
          <p:cNvSpPr txBox="1"/>
          <p:nvPr/>
        </p:nvSpPr>
        <p:spPr>
          <a:xfrm>
            <a:off x="731520" y="2834640"/>
            <a:ext cx="10725912" cy="822960"/>
          </a:xfrm>
          <a:prstGeom prst="rect">
            <a:avLst/>
          </a:prstGeom>
          <a:noFill/>
        </p:spPr>
        <p:txBody>
          <a:bodyPr wrap="square">
            <a:spAutoFit/>
          </a:bodyPr>
          <a:lstStyle/>
          <a:p>
            <a:pPr algn="l"/>
            <a:r>
              <a:rPr sz="2100" b="0" i="0">
                <a:solidFill>
                  <a:srgbClr val="FFFFFF"/>
                </a:solidFill>
              </a:rPr>
              <a:t>Estructura temporal · proyecciones Fed · expectativas · FX G10 · crédito Panamá</a:t>
            </a:r>
          </a:p>
        </p:txBody>
      </p:sp>
      <p:sp>
        <p:nvSpPr>
          <p:cNvPr id="5" name="TextBox 4"/>
          <p:cNvSpPr txBox="1"/>
          <p:nvPr/>
        </p:nvSpPr>
        <p:spPr>
          <a:xfrm>
            <a:off x="731520" y="3840480"/>
            <a:ext cx="10725912" cy="640080"/>
          </a:xfrm>
          <a:prstGeom prst="rect">
            <a:avLst/>
          </a:prstGeom>
          <a:noFill/>
        </p:spPr>
        <p:txBody>
          <a:bodyPr wrap="square">
            <a:spAutoFit/>
          </a:bodyPr>
          <a:lstStyle/>
          <a:p>
            <a:pPr algn="l"/>
            <a:r>
              <a:rPr sz="2000" b="0" i="0">
                <a:solidFill>
                  <a:srgbClr val="E8EFF7"/>
                </a:solidFill>
              </a:rPr>
              <a:t>Corte de análisis · 2026-04-30</a:t>
            </a:r>
          </a:p>
        </p:txBody>
      </p:sp>
      <p:sp>
        <p:nvSpPr>
          <p:cNvPr id="6" name="TextBox 5"/>
          <p:cNvSpPr txBox="1"/>
          <p:nvPr/>
        </p:nvSpPr>
        <p:spPr>
          <a:xfrm>
            <a:off x="731520" y="5852160"/>
            <a:ext cx="10725912" cy="548640"/>
          </a:xfrm>
          <a:prstGeom prst="rect">
            <a:avLst/>
          </a:prstGeom>
          <a:noFill/>
        </p:spPr>
        <p:txBody>
          <a:bodyPr wrap="square">
            <a:spAutoFit/>
          </a:bodyPr>
          <a:lstStyle/>
          <a:p>
            <a:pPr algn="l"/>
            <a:r>
              <a:rPr sz="1200" b="0" i="1">
                <a:solidFill>
                  <a:srgbClr val="E8EFF7"/>
                </a:solidFill>
              </a:rPr>
              <a:t>Datos: Bloomberg · FRED · EODHD · Fed (SEP) · Latinex</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651760"/>
            <a:ext cx="10725912" cy="1005840"/>
          </a:xfrm>
          <a:prstGeom prst="rect">
            <a:avLst/>
          </a:prstGeom>
          <a:noFill/>
        </p:spPr>
        <p:txBody>
          <a:bodyPr wrap="square">
            <a:spAutoFit/>
          </a:bodyPr>
          <a:lstStyle/>
          <a:p>
            <a:pPr algn="l"/>
            <a:r>
              <a:rPr sz="3200" b="1" i="0">
                <a:solidFill>
                  <a:srgbClr val="FFFFFF"/>
                </a:solidFill>
              </a:rPr>
              <a:t>Bloque USA</a:t>
            </a:r>
          </a:p>
        </p:txBody>
      </p:sp>
      <p:sp>
        <p:nvSpPr>
          <p:cNvPr id="4" name="TextBox 3"/>
          <p:cNvSpPr txBox="1"/>
          <p:nvPr/>
        </p:nvSpPr>
        <p:spPr>
          <a:xfrm>
            <a:off x="731520" y="3657600"/>
            <a:ext cx="10725912" cy="1097280"/>
          </a:xfrm>
          <a:prstGeom prst="rect">
            <a:avLst/>
          </a:prstGeom>
          <a:noFill/>
        </p:spPr>
        <p:txBody>
          <a:bodyPr wrap="square">
            <a:spAutoFit/>
          </a:bodyPr>
          <a:lstStyle/>
          <a:p>
            <a:pPr algn="l"/>
            <a:r>
              <a:rPr sz="1700" b="0" i="0">
                <a:solidFill>
                  <a:srgbClr val="E8EFF7"/>
                </a:solidFill>
              </a:rPr>
              <a:t>Modelo combinado WIRP+Taylor · dot plot SEP · path multi-fuente · estructura temporal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91440"/>
            <a:ext cx="11457432" cy="329184"/>
          </a:xfrm>
          <a:prstGeom prst="rect">
            <a:avLst/>
          </a:prstGeom>
          <a:noFill/>
        </p:spPr>
        <p:txBody>
          <a:bodyPr wrap="square">
            <a:spAutoFit/>
          </a:bodyPr>
          <a:lstStyle/>
          <a:p>
            <a:pPr algn="l"/>
            <a:r>
              <a:rPr sz="1300" b="1" i="0">
                <a:solidFill>
                  <a:srgbClr val="1A3A5C"/>
                </a:solidFill>
              </a:rPr>
              <a:t>Por qué combinamos: WIRP + Taylor (backtest 2010-2024)  ·  corte 2026-04-30</a:t>
            </a:r>
          </a:p>
        </p:txBody>
      </p:sp>
      <p:sp>
        <p:nvSpPr>
          <p:cNvPr id="3" name="TextBox 2"/>
          <p:cNvSpPr txBox="1"/>
          <p:nvPr/>
        </p:nvSpPr>
        <p:spPr>
          <a:xfrm>
            <a:off x="365760" y="457200"/>
            <a:ext cx="11457432" cy="1005840"/>
          </a:xfrm>
          <a:prstGeom prst="rect">
            <a:avLst/>
          </a:prstGeom>
          <a:solidFill>
            <a:srgbClr val="FFF5E6"/>
          </a:solidFill>
          <a:ln w="15240">
            <a:solidFill>
              <a:srgbClr val="B32A2A"/>
            </a:solidFill>
          </a:ln>
        </p:spPr>
        <p:txBody>
          <a:bodyPr wrap="square">
            <a:spAutoFit/>
          </a:bodyPr>
          <a:lstStyle/>
          <a:p>
            <a:r>
              <a:rPr sz="1100">
                <a:solidFill>
                  <a:srgbClr val="1A3A5C"/>
                </a:solidFill>
              </a:rPr>
              <a:t>Por qué combinamos: el mercado de futuros solo tiene error medio de 17 centésimas, casi igual al combinado (18). Pero la diferencia está en los SHOCKS. En los 10 peores desaciertos del mercado (todos en 2019-2022, cuando la Fed sorprendió), el combinado redujo el error en promedio 24 centésimas (ej: marzo 2022 mercado erró 102 bps, combinado solo 51). En 2022, año del shock de inflación, mercado erró 72 bps en promedio vs combinado 50 (30% menos). El combinado sacrifica precisión en años aburridos para reducir el daño cuando la Fed sorprende. Para una pieza informativa al comité, esa robustez vale más que ganarle al mercado en años planos.</a:t>
            </a:r>
          </a:p>
        </p:txBody>
      </p:sp>
      <p:pic>
        <p:nvPicPr>
          <p:cNvPr id="4" name="Picture 3" descr="L_USA_0_modelo_combinado.png"/>
          <p:cNvPicPr>
            <a:picLocks noChangeAspect="1"/>
          </p:cNvPicPr>
          <p:nvPr/>
        </p:nvPicPr>
        <p:blipFill>
          <a:blip r:embed="rId2"/>
          <a:stretch>
            <a:fillRect/>
          </a:stretch>
        </p:blipFill>
        <p:spPr>
          <a:xfrm>
            <a:off x="365760" y="1554480"/>
            <a:ext cx="11457432" cy="4892040"/>
          </a:xfrm>
          <a:prstGeom prst="rect">
            <a:avLst/>
          </a:prstGeom>
        </p:spPr>
      </p:pic>
      <p:sp>
        <p:nvSpPr>
          <p:cNvPr id="5" name="TextBox 4"/>
          <p:cNvSpPr txBox="1"/>
          <p:nvPr/>
        </p:nvSpPr>
        <p:spPr>
          <a:xfrm>
            <a:off x="365760" y="6565392"/>
            <a:ext cx="11457432" cy="256032"/>
          </a:xfrm>
          <a:prstGeom prst="rect">
            <a:avLst/>
          </a:prstGeom>
          <a:noFill/>
        </p:spPr>
        <p:txBody>
          <a:bodyPr wrap="square">
            <a:spAutoFit/>
          </a:bodyPr>
          <a:lstStyle/>
          <a:p>
            <a:pPr algn="l"/>
            <a:r>
              <a:rPr sz="800" b="0" i="1">
                <a:solidFill>
                  <a:srgbClr val="666666"/>
                </a:solidFill>
              </a:rPr>
              <a:t>Documento informativo con fines analíticos. No constituye recomendación de inversión.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91440"/>
            <a:ext cx="11457432" cy="329184"/>
          </a:xfrm>
          <a:prstGeom prst="rect">
            <a:avLst/>
          </a:prstGeom>
          <a:noFill/>
        </p:spPr>
        <p:txBody>
          <a:bodyPr wrap="square">
            <a:spAutoFit/>
          </a:bodyPr>
          <a:lstStyle/>
          <a:p>
            <a:pPr algn="l"/>
            <a:r>
              <a:rPr sz="1300" b="1" i="0">
                <a:solidFill>
                  <a:srgbClr val="1A3A5C"/>
                </a:solidFill>
              </a:rPr>
              <a:t>Dot plot Fed — proyecciones SEP  ·  corte 2026-04-30</a:t>
            </a:r>
          </a:p>
        </p:txBody>
      </p:sp>
      <p:sp>
        <p:nvSpPr>
          <p:cNvPr id="3" name="TextBox 2"/>
          <p:cNvSpPr txBox="1"/>
          <p:nvPr/>
        </p:nvSpPr>
        <p:spPr>
          <a:xfrm>
            <a:off x="365760" y="457200"/>
            <a:ext cx="11457432" cy="1005840"/>
          </a:xfrm>
          <a:prstGeom prst="rect">
            <a:avLst/>
          </a:prstGeom>
          <a:solidFill>
            <a:srgbClr val="FFF5E6"/>
          </a:solidFill>
          <a:ln w="15240">
            <a:solidFill>
              <a:srgbClr val="B32A2A"/>
            </a:solidFill>
          </a:ln>
        </p:spPr>
        <p:txBody>
          <a:bodyPr wrap="square">
            <a:spAutoFit/>
          </a:bodyPr>
          <a:lstStyle/>
          <a:p>
            <a:r>
              <a:rPr sz="1100">
                <a:solidFill>
                  <a:srgbClr val="1A3A5C"/>
                </a:solidFill>
              </a:rPr>
              <a:t>El mercado espera que la Fed mantenga tasas más altas de lo que ella misma proyecta. Para 2027, los miembros de la Fed proyectan en promedio 3.10%, pero el mercado descuenta 3.70%. Cambios vs proyección anterior de la Fed: para Longer run subió 10 centésimas.</a:t>
            </a:r>
          </a:p>
        </p:txBody>
      </p:sp>
      <p:pic>
        <p:nvPicPr>
          <p:cNvPr id="4" name="Picture 3" descr="L_USA_1_dotplot.png"/>
          <p:cNvPicPr>
            <a:picLocks noChangeAspect="1"/>
          </p:cNvPicPr>
          <p:nvPr/>
        </p:nvPicPr>
        <p:blipFill>
          <a:blip r:embed="rId2"/>
          <a:stretch>
            <a:fillRect/>
          </a:stretch>
        </p:blipFill>
        <p:spPr>
          <a:xfrm>
            <a:off x="365760" y="1554480"/>
            <a:ext cx="11457432" cy="4892040"/>
          </a:xfrm>
          <a:prstGeom prst="rect">
            <a:avLst/>
          </a:prstGeom>
        </p:spPr>
      </p:pic>
      <p:sp>
        <p:nvSpPr>
          <p:cNvPr id="5" name="TextBox 4"/>
          <p:cNvSpPr txBox="1"/>
          <p:nvPr/>
        </p:nvSpPr>
        <p:spPr>
          <a:xfrm>
            <a:off x="365760" y="6565392"/>
            <a:ext cx="11457432" cy="256032"/>
          </a:xfrm>
          <a:prstGeom prst="rect">
            <a:avLst/>
          </a:prstGeom>
          <a:noFill/>
        </p:spPr>
        <p:txBody>
          <a:bodyPr wrap="square">
            <a:spAutoFit/>
          </a:bodyPr>
          <a:lstStyle/>
          <a:p>
            <a:pPr algn="l"/>
            <a:r>
              <a:rPr sz="800" b="0" i="1">
                <a:solidFill>
                  <a:srgbClr val="666666"/>
                </a:solidFill>
              </a:rPr>
              <a:t>Documento informativo con fines analíticos. No constituye recomendación de inversión.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91440"/>
            <a:ext cx="11457432" cy="329184"/>
          </a:xfrm>
          <a:prstGeom prst="rect">
            <a:avLst/>
          </a:prstGeom>
          <a:noFill/>
        </p:spPr>
        <p:txBody>
          <a:bodyPr wrap="square">
            <a:spAutoFit/>
          </a:bodyPr>
          <a:lstStyle/>
          <a:p>
            <a:pPr algn="l"/>
            <a:r>
              <a:rPr sz="1300" b="1" i="0">
                <a:solidFill>
                  <a:srgbClr val="1A3A5C"/>
                </a:solidFill>
              </a:rPr>
              <a:t>Fed Funds: mercado · analistas · sentiment  ·  corte 2026-04-30</a:t>
            </a:r>
          </a:p>
        </p:txBody>
      </p:sp>
      <p:sp>
        <p:nvSpPr>
          <p:cNvPr id="3" name="TextBox 2"/>
          <p:cNvSpPr txBox="1"/>
          <p:nvPr/>
        </p:nvSpPr>
        <p:spPr>
          <a:xfrm>
            <a:off x="365760" y="457200"/>
            <a:ext cx="11457432" cy="1005840"/>
          </a:xfrm>
          <a:prstGeom prst="rect">
            <a:avLst/>
          </a:prstGeom>
          <a:solidFill>
            <a:srgbClr val="FFF5E6"/>
          </a:solidFill>
          <a:ln w="15240">
            <a:solidFill>
              <a:srgbClr val="B32A2A"/>
            </a:solidFill>
          </a:ln>
        </p:spPr>
        <p:txBody>
          <a:bodyPr wrap="square">
            <a:spAutoFit/>
          </a:bodyPr>
          <a:lstStyle/>
          <a:p>
            <a:r>
              <a:rPr sz="1100">
                <a:solidFill>
                  <a:srgbClr val="1A3A5C"/>
                </a:solidFill>
              </a:rPr>
              <a:t>Nuestro modelo combinado proyecta que en los próximos 12 meses la Fed va a mantener las tasas prácticamente sin cambios (+14 centésimas de punto desde el nivel actual de 3.62%). El mercado de futuros descuenta +5 centésimas, la regla de Taylor sugiere +25 centésimas. El sentimiento de noticias sobre bonos del Tesoro largo está muy pesimista sobre los bonos largos.</a:t>
            </a:r>
          </a:p>
        </p:txBody>
      </p:sp>
      <p:pic>
        <p:nvPicPr>
          <p:cNvPr id="4" name="Picture 3" descr="L_USA_2_path_fed.png"/>
          <p:cNvPicPr>
            <a:picLocks noChangeAspect="1"/>
          </p:cNvPicPr>
          <p:nvPr/>
        </p:nvPicPr>
        <p:blipFill>
          <a:blip r:embed="rId2"/>
          <a:stretch>
            <a:fillRect/>
          </a:stretch>
        </p:blipFill>
        <p:spPr>
          <a:xfrm>
            <a:off x="365760" y="1554480"/>
            <a:ext cx="11457432" cy="4892040"/>
          </a:xfrm>
          <a:prstGeom prst="rect">
            <a:avLst/>
          </a:prstGeom>
        </p:spPr>
      </p:pic>
      <p:sp>
        <p:nvSpPr>
          <p:cNvPr id="5" name="TextBox 4"/>
          <p:cNvSpPr txBox="1"/>
          <p:nvPr/>
        </p:nvSpPr>
        <p:spPr>
          <a:xfrm>
            <a:off x="365760" y="6565392"/>
            <a:ext cx="11457432" cy="256032"/>
          </a:xfrm>
          <a:prstGeom prst="rect">
            <a:avLst/>
          </a:prstGeom>
          <a:noFill/>
        </p:spPr>
        <p:txBody>
          <a:bodyPr wrap="square">
            <a:spAutoFit/>
          </a:bodyPr>
          <a:lstStyle/>
          <a:p>
            <a:pPr algn="l"/>
            <a:r>
              <a:rPr sz="800" b="0" i="1">
                <a:solidFill>
                  <a:srgbClr val="666666"/>
                </a:solidFill>
              </a:rPr>
              <a:t>Documento informativo con fines analíticos. No constituye recomendación de inversión.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91440"/>
            <a:ext cx="11457432" cy="329184"/>
          </a:xfrm>
          <a:prstGeom prst="rect">
            <a:avLst/>
          </a:prstGeom>
          <a:noFill/>
        </p:spPr>
        <p:txBody>
          <a:bodyPr wrap="square">
            <a:spAutoFit/>
          </a:bodyPr>
          <a:lstStyle/>
          <a:p>
            <a:pPr algn="l"/>
            <a:r>
              <a:rPr sz="1300" b="1" i="0">
                <a:solidFill>
                  <a:srgbClr val="1A3A5C"/>
                </a:solidFill>
              </a:rPr>
              <a:t>Estructura temporal de tasas USA  ·  corte 2026-04-30</a:t>
            </a:r>
          </a:p>
        </p:txBody>
      </p:sp>
      <p:sp>
        <p:nvSpPr>
          <p:cNvPr id="3" name="TextBox 2"/>
          <p:cNvSpPr txBox="1"/>
          <p:nvPr/>
        </p:nvSpPr>
        <p:spPr>
          <a:xfrm>
            <a:off x="365760" y="457200"/>
            <a:ext cx="11457432" cy="1005840"/>
          </a:xfrm>
          <a:prstGeom prst="rect">
            <a:avLst/>
          </a:prstGeom>
          <a:solidFill>
            <a:srgbClr val="FFF5E6"/>
          </a:solidFill>
          <a:ln w="15240">
            <a:solidFill>
              <a:srgbClr val="B32A2A"/>
            </a:solidFill>
          </a:ln>
        </p:spPr>
        <p:txBody>
          <a:bodyPr wrap="square">
            <a:spAutoFit/>
          </a:bodyPr>
          <a:lstStyle/>
          <a:p>
            <a:r>
              <a:rPr sz="1100">
                <a:solidFill>
                  <a:srgbClr val="1A3A5C"/>
                </a:solidFill>
              </a:rPr>
              <a:t>La curva de tasas del Tesoro USA está empinada: el bono a 10 años paga 0.52 puntos más que el de 2 años (4.40% vs 3.88%). el mercado no anticipa bajadas importantes de tasas en los próximos 5 años (espera que la Fed mantenga el nivel actual). la inflación esperada baja con el plazo: para los próximos 2 años el mercado descuenta 3.01% anual, pero para los próximos 30 años descuenta 2.28% (la Fed lograría su meta).</a:t>
            </a:r>
          </a:p>
        </p:txBody>
      </p:sp>
      <p:pic>
        <p:nvPicPr>
          <p:cNvPr id="4" name="Picture 3" descr="L_USA_3_curvas_usa.png"/>
          <p:cNvPicPr>
            <a:picLocks noChangeAspect="1"/>
          </p:cNvPicPr>
          <p:nvPr/>
        </p:nvPicPr>
        <p:blipFill>
          <a:blip r:embed="rId2"/>
          <a:stretch>
            <a:fillRect/>
          </a:stretch>
        </p:blipFill>
        <p:spPr>
          <a:xfrm>
            <a:off x="365760" y="1554480"/>
            <a:ext cx="11457432" cy="4892040"/>
          </a:xfrm>
          <a:prstGeom prst="rect">
            <a:avLst/>
          </a:prstGeom>
        </p:spPr>
      </p:pic>
      <p:sp>
        <p:nvSpPr>
          <p:cNvPr id="5" name="TextBox 4"/>
          <p:cNvSpPr txBox="1"/>
          <p:nvPr/>
        </p:nvSpPr>
        <p:spPr>
          <a:xfrm>
            <a:off x="365760" y="6565392"/>
            <a:ext cx="11457432" cy="256032"/>
          </a:xfrm>
          <a:prstGeom prst="rect">
            <a:avLst/>
          </a:prstGeom>
          <a:noFill/>
        </p:spPr>
        <p:txBody>
          <a:bodyPr wrap="square">
            <a:spAutoFit/>
          </a:bodyPr>
          <a:lstStyle/>
          <a:p>
            <a:pPr algn="l"/>
            <a:r>
              <a:rPr sz="800" b="0" i="1">
                <a:solidFill>
                  <a:srgbClr val="666666"/>
                </a:solidFill>
              </a:rPr>
              <a:t>Documento informativo con fines analíticos. No constituye recomendación de inversión.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651760"/>
            <a:ext cx="10725912" cy="1005840"/>
          </a:xfrm>
          <a:prstGeom prst="rect">
            <a:avLst/>
          </a:prstGeom>
          <a:noFill/>
        </p:spPr>
        <p:txBody>
          <a:bodyPr wrap="square">
            <a:spAutoFit/>
          </a:bodyPr>
          <a:lstStyle/>
          <a:p>
            <a:pPr algn="l"/>
            <a:r>
              <a:rPr sz="3200" b="1" i="0">
                <a:solidFill>
                  <a:srgbClr val="FFFFFF"/>
                </a:solidFill>
              </a:rPr>
              <a:t>Bloque FX G10</a:t>
            </a:r>
          </a:p>
        </p:txBody>
      </p:sp>
      <p:sp>
        <p:nvSpPr>
          <p:cNvPr id="4" name="TextBox 3"/>
          <p:cNvSpPr txBox="1"/>
          <p:nvPr/>
        </p:nvSpPr>
        <p:spPr>
          <a:xfrm>
            <a:off x="731520" y="3657600"/>
            <a:ext cx="10725912" cy="1097280"/>
          </a:xfrm>
          <a:prstGeom prst="rect">
            <a:avLst/>
          </a:prstGeom>
          <a:noFill/>
        </p:spPr>
        <p:txBody>
          <a:bodyPr wrap="square">
            <a:spAutoFit/>
          </a:bodyPr>
          <a:lstStyle/>
          <a:p>
            <a:pPr algn="l"/>
            <a:r>
              <a:rPr sz="1700" b="0" i="0">
                <a:solidFill>
                  <a:srgbClr val="E8EFF7"/>
                </a:solidFill>
              </a:rPr>
              <a:t>L_FX_1 spots y evolución · L_FX_2 forwards 5y (BBG v0.3)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91440"/>
            <a:ext cx="11457432" cy="329184"/>
          </a:xfrm>
          <a:prstGeom prst="rect">
            <a:avLst/>
          </a:prstGeom>
          <a:noFill/>
        </p:spPr>
        <p:txBody>
          <a:bodyPr wrap="square">
            <a:spAutoFit/>
          </a:bodyPr>
          <a:lstStyle/>
          <a:p>
            <a:pPr algn="l"/>
            <a:r>
              <a:rPr sz="1300" b="1" i="0">
                <a:solidFill>
                  <a:srgbClr val="1A3A5C"/>
                </a:solidFill>
              </a:rPr>
              <a:t>FX G10 + DXY: spots y evolución  ·  corte 2026-04-30</a:t>
            </a:r>
          </a:p>
        </p:txBody>
      </p:sp>
      <p:sp>
        <p:nvSpPr>
          <p:cNvPr id="3" name="TextBox 2"/>
          <p:cNvSpPr txBox="1"/>
          <p:nvPr/>
        </p:nvSpPr>
        <p:spPr>
          <a:xfrm>
            <a:off x="365760" y="457200"/>
            <a:ext cx="11457432" cy="1005840"/>
          </a:xfrm>
          <a:prstGeom prst="rect">
            <a:avLst/>
          </a:prstGeom>
          <a:solidFill>
            <a:srgbClr val="FFF5E6"/>
          </a:solidFill>
          <a:ln w="15240">
            <a:solidFill>
              <a:srgbClr val="B32A2A"/>
            </a:solidFill>
          </a:ln>
        </p:spPr>
        <p:txBody>
          <a:bodyPr wrap="square">
            <a:spAutoFit/>
          </a:bodyPr>
          <a:lstStyle/>
          <a:p>
            <a:r>
              <a:rPr sz="1100">
                <a:solidFill>
                  <a:srgbClr val="1A3A5C"/>
                </a:solidFill>
              </a:rPr>
              <a:t>Niveles extremos vs los últimos 5 años: el dólar vs franco suizo está en niveles muy bajos vs los últimos 5 años (más bajo que el 97% de las observaciones recientes).</a:t>
            </a:r>
          </a:p>
        </p:txBody>
      </p:sp>
      <p:pic>
        <p:nvPicPr>
          <p:cNvPr id="4" name="Picture 3" descr="L_FX_1_g10.png"/>
          <p:cNvPicPr>
            <a:picLocks noChangeAspect="1"/>
          </p:cNvPicPr>
          <p:nvPr/>
        </p:nvPicPr>
        <p:blipFill>
          <a:blip r:embed="rId2"/>
          <a:stretch>
            <a:fillRect/>
          </a:stretch>
        </p:blipFill>
        <p:spPr>
          <a:xfrm>
            <a:off x="365760" y="1554480"/>
            <a:ext cx="11457432" cy="4892040"/>
          </a:xfrm>
          <a:prstGeom prst="rect">
            <a:avLst/>
          </a:prstGeom>
        </p:spPr>
      </p:pic>
      <p:sp>
        <p:nvSpPr>
          <p:cNvPr id="5" name="TextBox 4"/>
          <p:cNvSpPr txBox="1"/>
          <p:nvPr/>
        </p:nvSpPr>
        <p:spPr>
          <a:xfrm>
            <a:off x="365760" y="6565392"/>
            <a:ext cx="11457432" cy="256032"/>
          </a:xfrm>
          <a:prstGeom prst="rect">
            <a:avLst/>
          </a:prstGeom>
          <a:noFill/>
        </p:spPr>
        <p:txBody>
          <a:bodyPr wrap="square">
            <a:spAutoFit/>
          </a:bodyPr>
          <a:lstStyle/>
          <a:p>
            <a:pPr algn="l"/>
            <a:r>
              <a:rPr sz="800" b="0" i="1">
                <a:solidFill>
                  <a:srgbClr val="666666"/>
                </a:solidFill>
              </a:rPr>
              <a:t>Documento informativo con fines analíticos. No constituye recomendación de inversión.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09728"/>
            <a:ext cx="11457432" cy="365760"/>
          </a:xfrm>
          <a:prstGeom prst="rect">
            <a:avLst/>
          </a:prstGeom>
          <a:noFill/>
        </p:spPr>
        <p:txBody>
          <a:bodyPr wrap="square">
            <a:spAutoFit/>
          </a:bodyPr>
          <a:lstStyle/>
          <a:p>
            <a:pPr algn="l"/>
            <a:r>
              <a:rPr sz="1400" b="1" i="0">
                <a:solidFill>
                  <a:srgbClr val="1A3A5C"/>
                </a:solidFill>
              </a:rPr>
              <a:t>Forwards FX trimestrales 5y  ·  corte 2026-04-30</a:t>
            </a:r>
          </a:p>
        </p:txBody>
      </p:sp>
      <p:sp>
        <p:nvSpPr>
          <p:cNvPr id="3" name="TextBox 2"/>
          <p:cNvSpPr txBox="1"/>
          <p:nvPr/>
        </p:nvSpPr>
        <p:spPr>
          <a:xfrm>
            <a:off x="1828800" y="2560320"/>
            <a:ext cx="8531352" cy="1828800"/>
          </a:xfrm>
          <a:prstGeom prst="rect">
            <a:avLst/>
          </a:prstGeom>
          <a:noFill/>
        </p:spPr>
        <p:txBody>
          <a:bodyPr wrap="square">
            <a:spAutoFit/>
          </a:bodyPr>
          <a:lstStyle/>
          <a:p>
            <a:pPr algn="ctr"/>
            <a:r>
              <a:rPr sz="2200" i="1">
                <a:solidFill>
                  <a:srgbClr val="666666"/>
                </a:solidFill>
              </a:rPr>
              <a:t>En construcción · Sprint 2.2 · pendiente plantilla BBG v0.3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651760"/>
            <a:ext cx="10725912" cy="1005840"/>
          </a:xfrm>
          <a:prstGeom prst="rect">
            <a:avLst/>
          </a:prstGeom>
          <a:noFill/>
        </p:spPr>
        <p:txBody>
          <a:bodyPr wrap="square">
            <a:spAutoFit/>
          </a:bodyPr>
          <a:lstStyle/>
          <a:p>
            <a:pPr algn="l"/>
            <a:r>
              <a:rPr sz="3200" b="1" i="0">
                <a:solidFill>
                  <a:srgbClr val="FFFFFF"/>
                </a:solidFill>
              </a:rPr>
              <a:t>Bloque Panamá</a:t>
            </a:r>
          </a:p>
        </p:txBody>
      </p:sp>
      <p:sp>
        <p:nvSpPr>
          <p:cNvPr id="4" name="TextBox 3"/>
          <p:cNvSpPr txBox="1"/>
          <p:nvPr/>
        </p:nvSpPr>
        <p:spPr>
          <a:xfrm>
            <a:off x="731520" y="3657600"/>
            <a:ext cx="10725912" cy="1097280"/>
          </a:xfrm>
          <a:prstGeom prst="rect">
            <a:avLst/>
          </a:prstGeom>
          <a:noFill/>
        </p:spPr>
        <p:txBody>
          <a:bodyPr wrap="square">
            <a:spAutoFit/>
          </a:bodyPr>
          <a:lstStyle/>
          <a:p>
            <a:pPr algn="l"/>
            <a:r>
              <a:rPr sz="1700" b="0" i="0">
                <a:solidFill>
                  <a:srgbClr val="E8EFF7"/>
                </a:solidFill>
              </a:rPr>
              <a:t>Bonos corporativos · soberano + forwards implícitos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91440"/>
            <a:ext cx="11457432" cy="329184"/>
          </a:xfrm>
          <a:prstGeom prst="rect">
            <a:avLst/>
          </a:prstGeom>
          <a:noFill/>
        </p:spPr>
        <p:txBody>
          <a:bodyPr wrap="square">
            <a:spAutoFit/>
          </a:bodyPr>
          <a:lstStyle/>
          <a:p>
            <a:pPr algn="l"/>
            <a:r>
              <a:rPr sz="1300" b="1" i="0">
                <a:solidFill>
                  <a:srgbClr val="1A3A5C"/>
                </a:solidFill>
              </a:rPr>
              <a:t>Panamá corp · sector × plazo  ·  corte 2026-04-30</a:t>
            </a:r>
          </a:p>
        </p:txBody>
      </p:sp>
      <p:sp>
        <p:nvSpPr>
          <p:cNvPr id="3" name="TextBox 2"/>
          <p:cNvSpPr txBox="1"/>
          <p:nvPr/>
        </p:nvSpPr>
        <p:spPr>
          <a:xfrm>
            <a:off x="365760" y="457200"/>
            <a:ext cx="11457432" cy="1005840"/>
          </a:xfrm>
          <a:prstGeom prst="rect">
            <a:avLst/>
          </a:prstGeom>
          <a:solidFill>
            <a:srgbClr val="FFF5E6"/>
          </a:solidFill>
          <a:ln w="15240">
            <a:solidFill>
              <a:srgbClr val="B32A2A"/>
            </a:solidFill>
          </a:ln>
        </p:spPr>
        <p:txBody>
          <a:bodyPr wrap="square">
            <a:spAutoFit/>
          </a:bodyPr>
          <a:lstStyle/>
          <a:p>
            <a:r>
              <a:rPr sz="1100">
                <a:solidFill>
                  <a:srgbClr val="1A3A5C"/>
                </a:solidFill>
              </a:rPr>
              <a:t>Un emisor calificado A en Panamá paga aproximadamente 2.48 puntos porcentuales más que uno calificado AAA, sobre el bono del Tesoro USA del mismo plazo. el plazo más caro para emisores A es '1 a 3 años', donde pagan 2.69 puntos sobre el Tesoro USA. el sector Industriales paga 2.87 puntos porcentuales más que Financiero al mismo nivel de calificación.</a:t>
            </a:r>
          </a:p>
        </p:txBody>
      </p:sp>
      <p:pic>
        <p:nvPicPr>
          <p:cNvPr id="4" name="Picture 3" descr="L_PA_1_corp_sector_plazo.png"/>
          <p:cNvPicPr>
            <a:picLocks noChangeAspect="1"/>
          </p:cNvPicPr>
          <p:nvPr/>
        </p:nvPicPr>
        <p:blipFill>
          <a:blip r:embed="rId2"/>
          <a:stretch>
            <a:fillRect/>
          </a:stretch>
        </p:blipFill>
        <p:spPr>
          <a:xfrm>
            <a:off x="365760" y="1554480"/>
            <a:ext cx="11457432" cy="4892040"/>
          </a:xfrm>
          <a:prstGeom prst="rect">
            <a:avLst/>
          </a:prstGeom>
        </p:spPr>
      </p:pic>
      <p:sp>
        <p:nvSpPr>
          <p:cNvPr id="5" name="TextBox 4"/>
          <p:cNvSpPr txBox="1"/>
          <p:nvPr/>
        </p:nvSpPr>
        <p:spPr>
          <a:xfrm>
            <a:off x="365760" y="6565392"/>
            <a:ext cx="11457432" cy="256032"/>
          </a:xfrm>
          <a:prstGeom prst="rect">
            <a:avLst/>
          </a:prstGeom>
          <a:noFill/>
        </p:spPr>
        <p:txBody>
          <a:bodyPr wrap="square">
            <a:spAutoFit/>
          </a:bodyPr>
          <a:lstStyle/>
          <a:p>
            <a:pPr algn="l"/>
            <a:r>
              <a:rPr sz="800" b="0" i="1">
                <a:solidFill>
                  <a:srgbClr val="666666"/>
                </a:solidFill>
              </a:rPr>
              <a:t>Documento informativo con fines analíticos. No constituye recomendación de inversión.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91440"/>
            <a:ext cx="11457432" cy="329184"/>
          </a:xfrm>
          <a:prstGeom prst="rect">
            <a:avLst/>
          </a:prstGeom>
          <a:noFill/>
        </p:spPr>
        <p:txBody>
          <a:bodyPr wrap="square">
            <a:spAutoFit/>
          </a:bodyPr>
          <a:lstStyle/>
          <a:p>
            <a:pPr algn="l"/>
            <a:r>
              <a:rPr sz="1300" b="1" i="0">
                <a:solidFill>
                  <a:srgbClr val="1A3A5C"/>
                </a:solidFill>
              </a:rPr>
              <a:t>Panamá soberano + forwards implícitos  ·  corte 2026-04-30</a:t>
            </a:r>
          </a:p>
        </p:txBody>
      </p:sp>
      <p:sp>
        <p:nvSpPr>
          <p:cNvPr id="3" name="TextBox 2"/>
          <p:cNvSpPr txBox="1"/>
          <p:nvPr/>
        </p:nvSpPr>
        <p:spPr>
          <a:xfrm>
            <a:off x="365760" y="457200"/>
            <a:ext cx="11457432" cy="1005840"/>
          </a:xfrm>
          <a:prstGeom prst="rect">
            <a:avLst/>
          </a:prstGeom>
          <a:solidFill>
            <a:srgbClr val="FFF5E6"/>
          </a:solidFill>
          <a:ln w="15240">
            <a:solidFill>
              <a:srgbClr val="B32A2A"/>
            </a:solidFill>
          </a:ln>
        </p:spPr>
        <p:txBody>
          <a:bodyPr wrap="square">
            <a:spAutoFit/>
          </a:bodyPr>
          <a:lstStyle/>
          <a:p>
            <a:r>
              <a:rPr sz="1100">
                <a:solidFill>
                  <a:srgbClr val="1A3A5C"/>
                </a:solidFill>
              </a:rPr>
              <a:t>El bono soberano de Panamá paga en promedio 1.29 puntos porcentuales más que el bono del Tesoro USA del mismo plazo. la curva soberana panameña está creciente: del 4.68% en plazos cortos sube a 5.75% en los plazos más largos (+1.07 puntos). los forwards implícitos sugieren que las tasas panameñas suban de 4.69% en el primer año a 6.11% en el año 5.</a:t>
            </a:r>
          </a:p>
        </p:txBody>
      </p:sp>
      <p:pic>
        <p:nvPicPr>
          <p:cNvPr id="4" name="Picture 3" descr="L_PA_2_soberano.png"/>
          <p:cNvPicPr>
            <a:picLocks noChangeAspect="1"/>
          </p:cNvPicPr>
          <p:nvPr/>
        </p:nvPicPr>
        <p:blipFill>
          <a:blip r:embed="rId2"/>
          <a:stretch>
            <a:fillRect/>
          </a:stretch>
        </p:blipFill>
        <p:spPr>
          <a:xfrm>
            <a:off x="365760" y="1554480"/>
            <a:ext cx="11457432" cy="4892040"/>
          </a:xfrm>
          <a:prstGeom prst="rect">
            <a:avLst/>
          </a:prstGeom>
        </p:spPr>
      </p:pic>
      <p:sp>
        <p:nvSpPr>
          <p:cNvPr id="5" name="TextBox 4"/>
          <p:cNvSpPr txBox="1"/>
          <p:nvPr/>
        </p:nvSpPr>
        <p:spPr>
          <a:xfrm>
            <a:off x="365760" y="6565392"/>
            <a:ext cx="11457432" cy="256032"/>
          </a:xfrm>
          <a:prstGeom prst="rect">
            <a:avLst/>
          </a:prstGeom>
          <a:noFill/>
        </p:spPr>
        <p:txBody>
          <a:bodyPr wrap="square">
            <a:spAutoFit/>
          </a:bodyPr>
          <a:lstStyle/>
          <a:p>
            <a:pPr algn="l"/>
            <a:r>
              <a:rPr sz="800" b="0" i="1">
                <a:solidFill>
                  <a:srgbClr val="666666"/>
                </a:solidFill>
              </a:rPr>
              <a:t>Documento informativo con fines analíticos. No constituye recomendación de inversión.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651760"/>
            <a:ext cx="10725912" cy="1005840"/>
          </a:xfrm>
          <a:prstGeom prst="rect">
            <a:avLst/>
          </a:prstGeom>
          <a:noFill/>
        </p:spPr>
        <p:txBody>
          <a:bodyPr wrap="square">
            <a:spAutoFit/>
          </a:bodyPr>
          <a:lstStyle/>
          <a:p>
            <a:pPr algn="l"/>
            <a:r>
              <a:rPr sz="3200" b="1" i="0">
                <a:solidFill>
                  <a:srgbClr val="FFFFFF"/>
                </a:solidFill>
              </a:rPr>
              <a:t>Compliance</a:t>
            </a:r>
          </a:p>
        </p:txBody>
      </p:sp>
      <p:sp>
        <p:nvSpPr>
          <p:cNvPr id="4" name="TextBox 3"/>
          <p:cNvSpPr txBox="1"/>
          <p:nvPr/>
        </p:nvSpPr>
        <p:spPr>
          <a:xfrm>
            <a:off x="731520" y="3657600"/>
            <a:ext cx="10725912" cy="1097280"/>
          </a:xfrm>
          <a:prstGeom prst="rect">
            <a:avLst/>
          </a:prstGeom>
          <a:noFill/>
        </p:spPr>
        <p:txBody>
          <a:bodyPr wrap="square">
            <a:spAutoFit/>
          </a:bodyPr>
          <a:lstStyle/>
          <a:p>
            <a:pPr algn="l"/>
            <a:r>
              <a:rPr sz="1700" b="0" i="0">
                <a:solidFill>
                  <a:srgbClr val="E8EFF7"/>
                </a:solidFill>
              </a:rPr>
              <a:t>Documento informativo con fines analíticos. No constituye recomendación de inversión.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