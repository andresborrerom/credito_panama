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A6F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2591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</a:rPr>
              <a:t>Pieza informativa — Tasas, FX, Panamá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834640"/>
            <a:ext cx="107259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0">
                <a:solidFill>
                  <a:srgbClr val="FFFFFF"/>
                </a:solidFill>
              </a:rPr>
              <a:t>Estructura temporal · proyecciones Fed · expectativas · FX G10 · crédito Panamá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0"/>
            <a:ext cx="107259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E8EFF7"/>
                </a:solidFill>
              </a:rPr>
              <a:t>Corte de análisis · 2026-05-30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852160"/>
            <a:ext cx="10725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FF7"/>
                </a:solidFill>
              </a:rPr>
              <a:t>Datos: Bloomberg · FRED · EODHD · Fed (SEP) · Latinex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651760"/>
            <a:ext cx="107259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Bloque USA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1072591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E8EFF7"/>
                </a:solidFill>
              </a:rPr>
              <a:t>L_USA_1 dot plot SEP · L_USA_2 path multi-fuente · L_USA_3 estructura temporal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</a:rPr>
              <a:t>Dot plot Fed — proyecciones SEP  ·  corte 2026-05-30</a:t>
            </a:r>
          </a:p>
        </p:txBody>
      </p:sp>
      <p:pic>
        <p:nvPicPr>
          <p:cNvPr id="3" name="Picture 2" descr="L_USA_1_dot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48640"/>
            <a:ext cx="11457432" cy="661956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66666"/>
                </a:solidFill>
              </a:rPr>
              <a:t>Documento informativo con fines analíticos. No constituye recomendación de inversión.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</a:rPr>
              <a:t>Fed Funds: mercado · analistas · sentiment  ·  corte 2026-05-30</a:t>
            </a:r>
          </a:p>
        </p:txBody>
      </p:sp>
      <p:pic>
        <p:nvPicPr>
          <p:cNvPr id="3" name="Picture 2" descr="L_USA_2_path_f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48640"/>
            <a:ext cx="11457432" cy="752225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66666"/>
                </a:solidFill>
              </a:rPr>
              <a:t>Documento informativo con fines analíticos. No constituye recomendación de inversión.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</a:rPr>
              <a:t>Estructura temporal de tasas USA  ·  corte 2026-05-30</a:t>
            </a:r>
          </a:p>
        </p:txBody>
      </p:sp>
      <p:pic>
        <p:nvPicPr>
          <p:cNvPr id="3" name="Picture 2" descr="L_USA_3_curvas_us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48640"/>
            <a:ext cx="11457432" cy="71220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66666"/>
                </a:solidFill>
              </a:rPr>
              <a:t>Documento informativo con fines analíticos. No constituye recomendación de inversión.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651760"/>
            <a:ext cx="107259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Bloque FX G10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1072591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E8EFF7"/>
                </a:solidFill>
              </a:rPr>
              <a:t>L_FX_1 spots y evolución · L_FX_2 forwards 5y (BBG v0.3)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</a:rPr>
              <a:t>FX G10 + DXY: spots y evolución  ·  corte 2026-05-30</a:t>
            </a:r>
          </a:p>
        </p:txBody>
      </p:sp>
      <p:pic>
        <p:nvPicPr>
          <p:cNvPr id="3" name="Picture 2" descr="L_FX_1_g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48640"/>
            <a:ext cx="11457432" cy="73668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66666"/>
                </a:solidFill>
              </a:rPr>
              <a:t>Documento informativo con fines analíticos. No constituye recomendación de inversión.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</a:rPr>
              <a:t>Forwards FX trimestrales 5y  ·  corte 2026-05-30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2560320"/>
            <a:ext cx="853135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i="1">
                <a:solidFill>
                  <a:srgbClr val="666666"/>
                </a:solidFill>
              </a:rPr>
              <a:t>En construcción · Sprint 2.2 · pendiente plantilla BBG v0.3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651760"/>
            <a:ext cx="107259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Bloque Panamá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1072591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E8EFF7"/>
                </a:solidFill>
              </a:rPr>
              <a:t>L_PA_1 corp sector × plazo · L_PA_2 soberano + CDS (BBG v0.3)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</a:rPr>
              <a:t>Panamá corp · sector × plazo  ·  corte 2026-05-30</a:t>
            </a:r>
          </a:p>
        </p:txBody>
      </p:sp>
      <p:pic>
        <p:nvPicPr>
          <p:cNvPr id="3" name="Picture 2" descr="L_PA_1_corp_sector_plaz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48640"/>
            <a:ext cx="11457432" cy="930621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66666"/>
                </a:solidFill>
              </a:rPr>
              <a:t>Documento informativo con fines analíticos. No constituye recomendación de inversión.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</a:rPr>
              <a:t>Panamá soberano · spread + EMBI + CDS  ·  corte 2026-05-30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2560320"/>
            <a:ext cx="853135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i="1">
                <a:solidFill>
                  <a:srgbClr val="666666"/>
                </a:solidFill>
              </a:rPr>
              <a:t>En construcción · Sprint 3.2 · pendiente plantilla BBG v0.3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651760"/>
            <a:ext cx="107259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1072591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E8EFF7"/>
                </a:solidFill>
              </a:rPr>
              <a:t>Documento informativo con fines analíticos. No constituye recomendación de inversión.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