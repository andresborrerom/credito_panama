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6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591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Pieza informativa — Tasas, FX,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</a:rPr>
              <a:t>Estructura temporal · proyecciones Fed · expectativas · FX G10 · crédito Panamá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725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EFF7"/>
                </a:solidFill>
              </a:rPr>
              <a:t>Corte de análisis · 2026-05-30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FF7"/>
                </a:solidFill>
              </a:rPr>
              <a:t>Datos: Bloomberg · FRED · EODHD · Fed (SEP) · Latinex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USA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Modelo combinado WIRP+Taylor · dot plot SEP · path multi-fuente · estructura temporal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Por qué combinamos: WIRP + Taylor (backtest 2010-2024)  ·  corte 2026-05-30</a:t>
            </a:r>
          </a:p>
        </p:txBody>
      </p:sp>
      <p:pic>
        <p:nvPicPr>
          <p:cNvPr id="3" name="Picture 2" descr="L_USA_0_modelo_combi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82977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Dot plot Fed — proyecciones SEP  ·  corte 2026-05-30</a:t>
            </a:r>
          </a:p>
        </p:txBody>
      </p:sp>
      <p:pic>
        <p:nvPicPr>
          <p:cNvPr id="3" name="Picture 2" descr="L_USA_1_do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66195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Fed Funds: mercado · analistas · sentiment  ·  corte 2026-05-30</a:t>
            </a:r>
          </a:p>
        </p:txBody>
      </p:sp>
      <p:pic>
        <p:nvPicPr>
          <p:cNvPr id="3" name="Picture 2" descr="L_USA_2_path_f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5222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Estructura temporal de tasas USA  ·  corte 2026-05-30</a:t>
            </a:r>
          </a:p>
        </p:txBody>
      </p:sp>
      <p:pic>
        <p:nvPicPr>
          <p:cNvPr id="3" name="Picture 2" descr="L_USA_3_curvas_u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1220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FX G10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L_FX_1 spots y evolución · L_FX_2 forwards 5y (BBG v0.3)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FX G10 + DXY: spots y evolución  ·  corte 2026-05-30</a:t>
            </a:r>
          </a:p>
        </p:txBody>
      </p:sp>
      <p:pic>
        <p:nvPicPr>
          <p:cNvPr id="3" name="Picture 2" descr="L_FX_1_g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3668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Forwards FX trimestrales 5y  ·  corte 2026-05-30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8531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666666"/>
                </a:solidFill>
              </a:rPr>
              <a:t>En construcción · Sprint 2.2 · pendiente plantilla BBG v0.3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L_PA_1 corp sector × plazo · L_PA_2 soberano + CDS (BBG v0.3)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Panamá corp · sector × plazo  ·  corte 2026-05-30</a:t>
            </a:r>
          </a:p>
        </p:txBody>
      </p:sp>
      <p:pic>
        <p:nvPicPr>
          <p:cNvPr id="3" name="Picture 2" descr="L_PA_1_corp_sector_pla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930621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Panamá soberano · spread + EMBI + CDS  ·  corte 2026-05-30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8531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666666"/>
                </a:solidFill>
              </a:rPr>
              <a:t>En construcción · Sprint 3.2 · pendiente plantilla BBG v0.3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