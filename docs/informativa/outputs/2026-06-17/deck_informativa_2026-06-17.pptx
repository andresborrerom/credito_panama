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6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59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Pieza informativa — Tasas, FX, Panamá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</a:rPr>
              <a:t>Estructura temporal · proyecciones Fed · expectativas · FX G10 · crédito Panamá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FF7"/>
                </a:solidFill>
              </a:rPr>
              <a:t>Corte de análisis · 2026-06-17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FF7"/>
                </a:solidFill>
              </a:rPr>
              <a:t>Datos: Bloomberg · FRED · EODHD · Fed (SEP) · Latinex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Bloque USA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FF7"/>
                </a:solidFill>
              </a:rPr>
              <a:t>Modelo combinado WIRP+Taylor · dot plot SEP · path multi-fuente · estructura temporal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57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Por qué combinamos: WIRP + Taylor (backtest 2010-2024)  ·  corte 2026-06-17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57432" cy="1005840"/>
          </a:xfrm>
          <a:prstGeom prst="rect">
            <a:avLst/>
          </a:prstGeom>
          <a:solidFill>
            <a:srgbClr val="FFF5E6"/>
          </a:solidFill>
          <a:ln w="15240">
            <a:solidFill>
              <a:srgbClr val="B32A2A"/>
            </a:solidFill>
          </a:ln>
        </p:spPr>
        <p:txBody>
          <a:bodyPr wrap="square">
            <a:spAutoFit/>
          </a:bodyPr>
          <a:lstStyle/>
          <a:p>
            <a:r>
              <a:rPr sz="1100">
                <a:solidFill>
                  <a:srgbClr val="1A3A5C"/>
                </a:solidFill>
              </a:rPr>
              <a:t>Por qué combinamos: el mercado de futuros solo es la predicción más certera en el 66% de los meses, con error típico de 7 centésimas. Pero cuando se equivoca tiende a hacerlo fuerte: es la peor el 12% del tiempo. La regla de Taylor sola es aún más volátil (82% peor). El modelo combinado sacrifica algo de frecuencia de acierto (gana solo el 28%, error típico 11) a cambio de robustez: casi nunca es catastrófico, solo el 7% es la peor. En decisiones de inversión, esta robustez importa más que ganarle al mercado cada mes.</a:t>
            </a:r>
          </a:p>
        </p:txBody>
      </p:sp>
      <p:pic>
        <p:nvPicPr>
          <p:cNvPr id="4" name="Picture 3" descr="L_USA_0_modelo_combi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57432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65392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57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Dot plot Fed — proyecciones SEP  ·  corte 2026-06-17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57432" cy="1005840"/>
          </a:xfrm>
          <a:prstGeom prst="rect">
            <a:avLst/>
          </a:prstGeom>
          <a:solidFill>
            <a:srgbClr val="FFF5E6"/>
          </a:solidFill>
          <a:ln w="15240">
            <a:solidFill>
              <a:srgbClr val="B32A2A"/>
            </a:solidFill>
          </a:ln>
        </p:spPr>
        <p:txBody>
          <a:bodyPr wrap="square">
            <a:spAutoFit/>
          </a:bodyPr>
          <a:lstStyle/>
          <a:p>
            <a:r>
              <a:rPr sz="1100">
                <a:solidFill>
                  <a:srgbClr val="1A3A5C"/>
                </a:solidFill>
              </a:rPr>
              <a:t>El mercado espera que la Fed mantenga tasas más altas de lo que ella misma proyecta. Para 2028, los miembros de la Fed proyectan en promedio 3.40%, pero el mercado descuenta 3.87%. Cambios vs proyección anterior de la Fed: para 2026 subió 40 centésimas, para 2027 subió 50 centésimas, para 2028 subió 30 centésimas.</a:t>
            </a:r>
          </a:p>
        </p:txBody>
      </p:sp>
      <p:pic>
        <p:nvPicPr>
          <p:cNvPr id="4" name="Picture 3" descr="L_USA_1_do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57432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65392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57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Fed Funds: mercado · analistas · sentiment  ·  corte 2026-06-17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57432" cy="1005840"/>
          </a:xfrm>
          <a:prstGeom prst="rect">
            <a:avLst/>
          </a:prstGeom>
          <a:solidFill>
            <a:srgbClr val="FFF5E6"/>
          </a:solidFill>
          <a:ln w="15240">
            <a:solidFill>
              <a:srgbClr val="B32A2A"/>
            </a:solidFill>
          </a:ln>
        </p:spPr>
        <p:txBody>
          <a:bodyPr wrap="square">
            <a:spAutoFit/>
          </a:bodyPr>
          <a:lstStyle/>
          <a:p>
            <a:r>
              <a:rPr sz="1100">
                <a:solidFill>
                  <a:srgbClr val="1A3A5C"/>
                </a:solidFill>
              </a:rPr>
              <a:t>Nuestro modelo combinado proyecta que en los próximos 12 meses la Fed va a mantener las tasas prácticamente sin cambios (+14 centésimas de punto desde el nivel actual de 3.62%). El mercado de futuros descuenta +17 centésimas, la regla de Taylor sugiere +11 centésimas. El sentimiento de noticias sobre bonos del Tesoro largo está pesimista sobre los bonos largos.</a:t>
            </a:r>
          </a:p>
        </p:txBody>
      </p:sp>
      <p:pic>
        <p:nvPicPr>
          <p:cNvPr id="4" name="Picture 3" descr="L_USA_2_path_f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57432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65392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57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Estructura temporal de tasas USA  ·  corte 2026-06-17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57432" cy="1005840"/>
          </a:xfrm>
          <a:prstGeom prst="rect">
            <a:avLst/>
          </a:prstGeom>
          <a:solidFill>
            <a:srgbClr val="FFF5E6"/>
          </a:solidFill>
          <a:ln w="15240">
            <a:solidFill>
              <a:srgbClr val="B32A2A"/>
            </a:solidFill>
          </a:ln>
        </p:spPr>
        <p:txBody>
          <a:bodyPr wrap="square">
            <a:spAutoFit/>
          </a:bodyPr>
          <a:lstStyle/>
          <a:p>
            <a:r>
              <a:rPr sz="1100">
                <a:solidFill>
                  <a:srgbClr val="1A3A5C"/>
                </a:solidFill>
              </a:rPr>
              <a:t>La curva de tasas del Tesoro USA está casi plana: el bono a 10 años paga apenas 0.29 puntos más que el de 2 años (4.49% vs 4.20%). el mercado no anticipa bajadas importantes de tasas en los próximos 5 años (espera que la Fed mantenga el nivel actual). la inflación esperada baja con el plazo: para los próximos 2 años el mercado descuenta 2.64% anual, pero para los próximos 30 años descuenta 2.28% (la Fed lograría su meta).</a:t>
            </a:r>
          </a:p>
        </p:txBody>
      </p:sp>
      <p:pic>
        <p:nvPicPr>
          <p:cNvPr id="4" name="Picture 3" descr="L_USA_3_curvas_u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57432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65392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Bloque FX G10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FF7"/>
                </a:solidFill>
              </a:rPr>
              <a:t>L_FX_1 spots y evolución · L_FX_2 forwards 5y (BBG v0.3)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57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FX G10 + DXY: spots y evolución  ·  corte 2026-06-17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57432" cy="1005840"/>
          </a:xfrm>
          <a:prstGeom prst="rect">
            <a:avLst/>
          </a:prstGeom>
          <a:solidFill>
            <a:srgbClr val="FFF5E6"/>
          </a:solidFill>
          <a:ln w="15240">
            <a:solidFill>
              <a:srgbClr val="B32A2A"/>
            </a:solidFill>
          </a:ln>
        </p:spPr>
        <p:txBody>
          <a:bodyPr wrap="square">
            <a:spAutoFit/>
          </a:bodyPr>
          <a:lstStyle/>
          <a:p>
            <a:r>
              <a:rPr sz="1100">
                <a:solidFill>
                  <a:srgbClr val="1A3A5C"/>
                </a:solidFill>
              </a:rPr>
              <a:t>Niveles extremos vs los últimos 5 años: el dólar vs yen está en niveles muy altos vs los últimos 5 años (más alto que el 99% de las observaciones recientes).</a:t>
            </a:r>
          </a:p>
        </p:txBody>
      </p:sp>
      <p:pic>
        <p:nvPicPr>
          <p:cNvPr id="4" name="Picture 3" descr="L_FX_1_g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57432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65392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Forwards FX trimestrales 5y  ·  corte 2026-06-17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85313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666666"/>
                </a:solidFill>
              </a:rPr>
              <a:t>En construcción · Sprint 2.2 · pendiente plantilla BBG v0.3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Bloque Panamá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FF7"/>
                </a:solidFill>
              </a:rPr>
              <a:t>Bonos corporativos · soberano + forwards implícitos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57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Panamá corp · sector × plazo  ·  corte 2026-06-17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57432" cy="1005840"/>
          </a:xfrm>
          <a:prstGeom prst="rect">
            <a:avLst/>
          </a:prstGeom>
          <a:solidFill>
            <a:srgbClr val="FFF5E6"/>
          </a:solidFill>
          <a:ln w="15240">
            <a:solidFill>
              <a:srgbClr val="B32A2A"/>
            </a:solidFill>
          </a:ln>
        </p:spPr>
        <p:txBody>
          <a:bodyPr wrap="square">
            <a:spAutoFit/>
          </a:bodyPr>
          <a:lstStyle/>
          <a:p>
            <a:r>
              <a:rPr sz="1100">
                <a:solidFill>
                  <a:srgbClr val="1A3A5C"/>
                </a:solidFill>
              </a:rPr>
              <a:t>Un emisor calificado A en Panamá paga aproximadamente 2.70 puntos porcentuales más que uno calificado AAA, sobre el bono del Tesoro USA del mismo plazo. el plazo más caro para emisores A es '3 a 5 años', donde pagan 4.40 puntos sobre el Tesoro USA. el sector Industriales paga 2.97 puntos porcentuales más que Financiero al mismo nivel de calificación.</a:t>
            </a:r>
          </a:p>
        </p:txBody>
      </p:sp>
      <p:pic>
        <p:nvPicPr>
          <p:cNvPr id="4" name="Picture 3" descr="L_PA_1_corp_sector_plaz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57432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65392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57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Panamá soberano + forwards implícitos  ·  corte 2026-06-17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57432" cy="1005840"/>
          </a:xfrm>
          <a:prstGeom prst="rect">
            <a:avLst/>
          </a:prstGeom>
          <a:solidFill>
            <a:srgbClr val="FFF5E6"/>
          </a:solidFill>
          <a:ln w="15240">
            <a:solidFill>
              <a:srgbClr val="B32A2A"/>
            </a:solidFill>
          </a:ln>
        </p:spPr>
        <p:txBody>
          <a:bodyPr wrap="square">
            <a:spAutoFit/>
          </a:bodyPr>
          <a:lstStyle/>
          <a:p>
            <a:r>
              <a:rPr sz="1100">
                <a:solidFill>
                  <a:srgbClr val="1A3A5C"/>
                </a:solidFill>
              </a:rPr>
              <a:t>El bono soberano de Panamá paga en promedio 1.00 puntos porcentuales más que el bono del Tesoro USA del mismo plazo. la curva soberana panameña está creciente: del 4.68% en plazos cortos sube a 5.75% en los plazos más largos (+1.07 puntos). los forwards implícitos sugieren que las tasas panameñas suban de 4.69% en el primer año a 6.11% en el año 5.</a:t>
            </a:r>
          </a:p>
        </p:txBody>
      </p:sp>
      <p:pic>
        <p:nvPicPr>
          <p:cNvPr id="4" name="Picture 3" descr="L_PA_2_sober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57432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65392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FF7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