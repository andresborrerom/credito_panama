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A6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2591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Pieza informativa — Tasas, FX, Panamá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7259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</a:rPr>
              <a:t>Estructura temporal · proyecciones Fed · expectativas · FX G10 · crédito Panamá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107259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8EFF7"/>
                </a:solidFill>
              </a:rPr>
              <a:t>Corte de análisis · 2026-06-17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5216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FF7"/>
                </a:solidFill>
              </a:rPr>
              <a:t>Datos: Bloomberg · FRED · EODHD · Fed (SEP) · Latinex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Bloque USA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Modelo combinado WIRP+Taylor · dot plot SEP · path multi-fuente · estructura temporal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91440"/>
            <a:ext cx="114574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Por qué combinamos: WIRP + Taylor (backtest 2010-2024)  ·  corte 2026-06-17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57432" cy="1005840"/>
          </a:xfrm>
          <a:prstGeom prst="rect">
            <a:avLst/>
          </a:prstGeom>
          <a:solidFill>
            <a:srgbClr val="FFF5E6"/>
          </a:solidFill>
          <a:ln w="15240">
            <a:solidFill>
              <a:srgbClr val="B32A2A"/>
            </a:solidFill>
          </a:ln>
        </p:spPr>
        <p:txBody>
          <a:bodyPr wrap="square">
            <a:spAutoFit/>
          </a:bodyPr>
          <a:lstStyle/>
          <a:p>
            <a:r>
              <a:rPr sz="1100">
                <a:solidFill>
                  <a:srgbClr val="1A3A5C"/>
                </a:solidFill>
              </a:rPr>
              <a:t>Por quÃ© usamos un modelo combinado en vez de elegir una sola fuente: al juntar lo que dice el mercado de futuros con la regla de la tasa de equilibrio (Taylor), el modelo combinado acierta mÃ¡s. En los Ãºltimos 15 aÃ±os solo 7 de cada 100 meses fue la peor predicciÃ³n, mientras que el mercado solo lo fue 12 veces y la regla de Taylor sola 82. En la mayorÃ­a de los meses (93%) el modelo combinado fue mejor que la peor de las dos fuentes por separado.</a:t>
            </a:r>
          </a:p>
        </p:txBody>
      </p:sp>
      <p:pic>
        <p:nvPicPr>
          <p:cNvPr id="4" name="Picture 3" descr="L_USA_0_modelo_combin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57432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65392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91440"/>
            <a:ext cx="114574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Dot plot Fed — proyecciones SEP  ·  corte 2026-06-17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57432" cy="1005840"/>
          </a:xfrm>
          <a:prstGeom prst="rect">
            <a:avLst/>
          </a:prstGeom>
          <a:solidFill>
            <a:srgbClr val="FFF5E6"/>
          </a:solidFill>
          <a:ln w="15240">
            <a:solidFill>
              <a:srgbClr val="B32A2A"/>
            </a:solidFill>
          </a:ln>
        </p:spPr>
        <p:txBody>
          <a:bodyPr wrap="square">
            <a:spAutoFit/>
          </a:bodyPr>
          <a:lstStyle/>
          <a:p>
            <a:r>
              <a:rPr sz="1100">
                <a:solidFill>
                  <a:srgbClr val="1A3A5C"/>
                </a:solidFill>
              </a:rPr>
              <a:t>El mercado espera que la Fed mantenga tasas mÃ¡s altas de lo que ella misma proyecta. Para 2028, los miembros de la Fed proyectan en promedio 3.40%, pero el mercado descuenta 3.87%. Cambios vs proyecciÃ³n anterior de la Fed: para 2026 subiÃ³ 40 centÃ©simas, para 2027 subiÃ³ 50 centÃ©simas, para 2028 subiÃ³ 30 centÃ©simas.</a:t>
            </a:r>
          </a:p>
        </p:txBody>
      </p:sp>
      <p:pic>
        <p:nvPicPr>
          <p:cNvPr id="4" name="Picture 3" descr="L_USA_1_dot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57432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65392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91440"/>
            <a:ext cx="114574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Fed Funds: mercado · analistas · sentiment  ·  corte 2026-06-17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57432" cy="1005840"/>
          </a:xfrm>
          <a:prstGeom prst="rect">
            <a:avLst/>
          </a:prstGeom>
          <a:solidFill>
            <a:srgbClr val="FFF5E6"/>
          </a:solidFill>
          <a:ln w="15240">
            <a:solidFill>
              <a:srgbClr val="B32A2A"/>
            </a:solidFill>
          </a:ln>
        </p:spPr>
        <p:txBody>
          <a:bodyPr wrap="square">
            <a:spAutoFit/>
          </a:bodyPr>
          <a:lstStyle/>
          <a:p>
            <a:r>
              <a:rPr sz="1100">
                <a:solidFill>
                  <a:srgbClr val="1A3A5C"/>
                </a:solidFill>
              </a:rPr>
              <a:t>Nuestro modelo combinado proyecta que en los prÃ³ximos 12 meses la Fed va a mantener las tasas prÃ¡cticamente sin cambios (+14 centÃ©simas de punto desde el nivel actual de 3.62%). El mercado de futuros descuenta +17 centÃ©simas, la regla de Taylor sugiere +11 centÃ©simas. El sentimiento de noticias sobre bonos del Tesoro largo estÃ¡ pesimista sobre los bonos largos.</a:t>
            </a:r>
          </a:p>
        </p:txBody>
      </p:sp>
      <p:pic>
        <p:nvPicPr>
          <p:cNvPr id="4" name="Picture 3" descr="L_USA_2_path_f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57432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65392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91440"/>
            <a:ext cx="114574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Estructura temporal de tasas USA  ·  corte 2026-06-17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57432" cy="1005840"/>
          </a:xfrm>
          <a:prstGeom prst="rect">
            <a:avLst/>
          </a:prstGeom>
          <a:solidFill>
            <a:srgbClr val="FFF5E6"/>
          </a:solidFill>
          <a:ln w="15240">
            <a:solidFill>
              <a:srgbClr val="B32A2A"/>
            </a:solidFill>
          </a:ln>
        </p:spPr>
        <p:txBody>
          <a:bodyPr wrap="square">
            <a:spAutoFit/>
          </a:bodyPr>
          <a:lstStyle/>
          <a:p>
            <a:r>
              <a:rPr sz="1100">
                <a:solidFill>
                  <a:srgbClr val="1A3A5C"/>
                </a:solidFill>
              </a:rPr>
              <a:t>La curva de tasas del Tesoro USA estÃ¡ casi plana: el bono a 10 aÃ±os paga apenas 0.38 puntos mÃ¡s que el de 2 aÃ±os (4.43% vs 4.05%). el mercado no anticipa bajadas importantes de tasas en los prÃ³ximos 5 aÃ±os (espera que la Fed mantenga el nivel actual). la inflaciÃ³n esperada baja con el plazo: para los prÃ³ximos 2 aÃ±os el mercado descuenta 2.64% anual, pero para los prÃ³ximos 30 aÃ±os descuenta 2.28% (la Fed lograrÃ­a su meta).</a:t>
            </a:r>
          </a:p>
        </p:txBody>
      </p:sp>
      <p:pic>
        <p:nvPicPr>
          <p:cNvPr id="4" name="Picture 3" descr="L_USA_3_curvas_u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57432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65392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Bloque FX G10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L_FX_1 spots y evolución · L_FX_2 forwards 5y (BBG v0.3)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91440"/>
            <a:ext cx="114574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FX G10 + DXY: spots y evolución  ·  corte 2026-06-17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57432" cy="1005840"/>
          </a:xfrm>
          <a:prstGeom prst="rect">
            <a:avLst/>
          </a:prstGeom>
          <a:solidFill>
            <a:srgbClr val="FFF5E6"/>
          </a:solidFill>
          <a:ln w="15240">
            <a:solidFill>
              <a:srgbClr val="B32A2A"/>
            </a:solidFill>
          </a:ln>
        </p:spPr>
        <p:txBody>
          <a:bodyPr wrap="square">
            <a:spAutoFit/>
          </a:bodyPr>
          <a:lstStyle/>
          <a:p>
            <a:r>
              <a:rPr sz="1100">
                <a:solidFill>
                  <a:srgbClr val="1A3A5C"/>
                </a:solidFill>
              </a:rPr>
              <a:t>Niveles extremos vs los Ãºltimos 5 aÃ±os: el dÃ³lar vs yen estÃ¡ en niveles muy altos vs los Ãºltimos 5 aÃ±os (mÃ¡s alto que el 99% de las observaciones recientes).</a:t>
            </a:r>
          </a:p>
        </p:txBody>
      </p:sp>
      <p:pic>
        <p:nvPicPr>
          <p:cNvPr id="4" name="Picture 3" descr="L_FX_1_g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57432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65392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Forwards FX trimestrales 5y  ·  corte 2026-06-17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560320"/>
            <a:ext cx="85313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i="1">
                <a:solidFill>
                  <a:srgbClr val="666666"/>
                </a:solidFill>
              </a:rPr>
              <a:t>En construcción · Sprint 2.2 · pendiente plantilla BBG v0.3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Bloque Panamá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Bonos corporativos · soberano + forwards implícitos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91440"/>
            <a:ext cx="114574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Panamá corp · sector × plazo  ·  corte 2026-06-17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57432" cy="1005840"/>
          </a:xfrm>
          <a:prstGeom prst="rect">
            <a:avLst/>
          </a:prstGeom>
          <a:solidFill>
            <a:srgbClr val="FFF5E6"/>
          </a:solidFill>
          <a:ln w="15240">
            <a:solidFill>
              <a:srgbClr val="B32A2A"/>
            </a:solidFill>
          </a:ln>
        </p:spPr>
        <p:txBody>
          <a:bodyPr wrap="square">
            <a:spAutoFit/>
          </a:bodyPr>
          <a:lstStyle/>
          <a:p>
            <a:r>
              <a:rPr sz="1100">
                <a:solidFill>
                  <a:srgbClr val="1A3A5C"/>
                </a:solidFill>
              </a:rPr>
              <a:t>Un emisor calificado A en PanamÃ¡ paga aproximadamente 2.70 puntos porcentuales mÃ¡s que uno calificado AAA, sobre el bono del Tesoro USA del mismo plazo. el plazo mÃ¡s caro para emisores A es '3 a 5 aÃ±os', donde pagan 4.40 puntos sobre el Tesoro USA. el sector Industriales paga 2.93 puntos porcentuales mÃ¡s que Financiero al mismo nivel de calificaciÃ³n.</a:t>
            </a:r>
          </a:p>
        </p:txBody>
      </p:sp>
      <p:pic>
        <p:nvPicPr>
          <p:cNvPr id="4" name="Picture 3" descr="L_PA_1_corp_sector_plaz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57432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65392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91440"/>
            <a:ext cx="114574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Panamá soberano + forwards implícitos  ·  corte 2026-06-17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57432" cy="1005840"/>
          </a:xfrm>
          <a:prstGeom prst="rect">
            <a:avLst/>
          </a:prstGeom>
          <a:solidFill>
            <a:srgbClr val="FFF5E6"/>
          </a:solidFill>
          <a:ln w="15240">
            <a:solidFill>
              <a:srgbClr val="B32A2A"/>
            </a:solidFill>
          </a:ln>
        </p:spPr>
        <p:txBody>
          <a:bodyPr wrap="square">
            <a:spAutoFit/>
          </a:bodyPr>
          <a:lstStyle/>
          <a:p>
            <a:r>
              <a:rPr sz="1100">
                <a:solidFill>
                  <a:srgbClr val="1A3A5C"/>
                </a:solidFill>
              </a:rPr>
              <a:t>El bono soberano de PanamÃ¡ paga en promedio 1.13 puntos porcentuales mÃ¡s que el bono del Tesoro USA del mismo plazo. la curva soberana panameÃ±a estÃ¡ creciente: del 4.68% en plazos cortos sube a 5.75% en los plazos mÃ¡s largos (+1.07 puntos). los forwards implÃ­citos sugieren que las tasas panameÃ±as suban de 4.69% en el primer aÃ±o a 6.11% en el aÃ±o 5.</a:t>
            </a:r>
          </a:p>
        </p:txBody>
      </p:sp>
      <p:pic>
        <p:nvPicPr>
          <p:cNvPr id="4" name="Picture 3" descr="L_PA_2_sober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57432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65392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